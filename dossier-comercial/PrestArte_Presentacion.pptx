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de PrestArte para posibles compradores. Mensaje principal: es un producto completo y funcional que resuelve la gestión de préstamos de arte privado, con el conocimiento del sector ya convertido en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un préstamo de una colección privada se organiza con correos, llamadas y hojas de cálculo. Cada una de las tres partes sufre un problema distinto, y nadie tiene la foto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cifras son de contexto, no un tamaño de mercado direccionable. Si el comprador pide un cálculo de mercado, conviene hacerlo con sus propios datos de clientes (transportistas, aseguradoras o museos).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red cerrada y verificada es la base de la confianza: sin ella, ningún coleccionista publicaría una obra valiosa.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obra no puede salir sin el seguro aprobado y, si sale de España y está protegida, sin permiso de exportación. Un presupuesto rechazado permite cambiar de transportista sin perder el histórico.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Todas las capturas son de la aplicación en funcionamiento (octubre de 2026), no de prototipos.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compatibilidad no bloquea (decide el coleccionista), salvo la antelación mínima. También se muestra una estimación de coste y huella de carbono con la tarifa del transportista o una de referencia.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También existen el panel de la fundación (solicitudes, exposiciones, presupuestos por aprobar) y el de administración (altas pendientes y diligencia debida).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dirección de recogida es privada: solo la ve el transportista cuando tiene un envío aprobado y en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marketplace genérico se hace en semanas; esto es lo que cuesta copiar, porque requiere conocer el préstamo de arte: seguros, normativa de patrimonio y procedencia.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claro que no hay ingresos. Preguntar al comprador qué vía encaja con su negocio: un transportista querrá el plan profesional o la marca blanca; una aseguradora, el seguro intermediado.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el comprador tiene equipo técnico, entregarle la ficha técnica y ofrecer una demo de instalación. La deuda técnica está listada con honestidad: tests, migraciones, Docker y textos legales.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Riesgos a reconocer: no hay usuarios ni ingresos, y un marketplace necesita un actor ancla que aporte el primer lado del mercado. Por eso encaja mejor con un comprador que ya esté en el sector.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proponiendo la demo en directo y el acuerdo de confidencialidad. Sustituir los textos entre corchetes antes de enviar.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B2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71429" y="0"/>
            <a:ext cx="5120690" cy="6858000"/>
          </a:xfrm>
          <a:prstGeom prst="rect">
            <a:avLst/>
          </a:prstGeom>
          <a:solidFill>
            <a:srgbClr val="115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8000" y="648000"/>
            <a:ext cx="2232000" cy="7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00" y="792000"/>
            <a:ext cx="1463226" cy="43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000" y="2232000"/>
            <a:ext cx="6120000" cy="21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3400" b="1">
                <a:solidFill>
                  <a:srgbClr val="FFFFFF"/>
                </a:solidFill>
                <a:latin typeface="Inter"/>
              </a:rPr>
              <a:t>La plataforma para prestar arte privado a museos y fundaciones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DBE1FF"/>
                </a:solidFill>
                <a:latin typeface="Inter"/>
              </a:rPr>
              <a:t>Coleccionistas, instituciones y transportistas especializados gestionan cada préstamo en un solo lugar: solicitud, seguro, permisos, transporte, exposición y devolución.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5994000"/>
            <a:ext cx="61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20" b="0">
                <a:solidFill>
                  <a:srgbClr val="DBE1FF"/>
                </a:solidFill>
                <a:latin typeface="Inter"/>
              </a:rPr>
              <a:t>Oportunidad de adquisición · Octubre de 2026 · Confidencial</a:t>
            </a:r>
          </a:p>
        </p:txBody>
      </p:sp>
      <p:pic>
        <p:nvPicPr>
          <p:cNvPr id="8" name="Picture 7" descr="06_prestamo_transi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72" y="1440000"/>
            <a:ext cx="4511084" cy="2819428"/>
          </a:xfrm>
          <a:prstGeom prst="rect">
            <a:avLst/>
          </a:prstGeom>
          <a:ln w="9525">
            <a:solidFill>
              <a:srgbClr val="E2E1ED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04000"/>
            <a:ext cx="1089612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1152D4"/>
                </a:solidFill>
                <a:latin typeface="Inter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56000"/>
            <a:ext cx="1089612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191B23"/>
                </a:solidFill>
                <a:latin typeface="Inter"/>
              </a:rPr>
              <a:t>Prestar una obra privada hoy es lento, opaco y arriesgado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6498000"/>
            <a:ext cx="43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PrestArte · Presentación confidencial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4120" y="6498000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1728000"/>
            <a:ext cx="3488040" cy="3888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000" y="1908000"/>
            <a:ext cx="3128040" cy="35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El coleccionista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80" b="0">
                <a:solidFill>
                  <a:srgbClr val="434654"/>
                </a:solidFill>
                <a:latin typeface="Inter"/>
              </a:rPr>
              <a:t>No sabe qué instituciones podrían interesarse por su obra.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80" b="0">
                <a:solidFill>
                  <a:srgbClr val="434654"/>
                </a:solidFill>
                <a:latin typeface="Inter"/>
              </a:rPr>
              <a:t>Teme exponer su identidad, el valor y la ubicación.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80" b="0">
                <a:solidFill>
                  <a:srgbClr val="434654"/>
                </a:solidFill>
                <a:latin typeface="Inter"/>
              </a:rPr>
              <a:t>No controla quién transporta la obra ni cómo.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80" b="0">
                <a:solidFill>
                  <a:srgbClr val="434654"/>
                </a:solidFill>
                <a:latin typeface="Inter"/>
              </a:rPr>
              <a:t>Recibe poco a cambio: ni mención ni historial.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040" y="1728000"/>
            <a:ext cx="3488040" cy="3888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2040" y="1908000"/>
            <a:ext cx="3128040" cy="35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El museo o la fundación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80" b="0">
                <a:solidFill>
                  <a:srgbClr val="434654"/>
                </a:solidFill>
                <a:latin typeface="Inter"/>
              </a:rPr>
              <a:t>El inventario privado disponible es invisible.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80" b="0">
                <a:solidFill>
                  <a:srgbClr val="434654"/>
                </a:solidFill>
                <a:latin typeface="Inter"/>
              </a:rPr>
              <a:t>Los costes de transporte, caja, seguro y correo llegan tarde.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80" b="0">
                <a:solidFill>
                  <a:srgbClr val="434654"/>
                </a:solidFill>
                <a:latin typeface="Inter"/>
              </a:rPr>
              <a:t>Seguros, permisos de exportación y procedencia se gestionan a mano.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80" b="0">
                <a:solidFill>
                  <a:srgbClr val="434654"/>
                </a:solidFill>
                <a:latin typeface="Inter"/>
              </a:rPr>
              <a:t>No hay un expediente único y auditable.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6080" y="1728000"/>
            <a:ext cx="3488040" cy="3888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6080" y="1908000"/>
            <a:ext cx="3128040" cy="35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El transportista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80" b="0">
                <a:solidFill>
                  <a:srgbClr val="434654"/>
                </a:solidFill>
                <a:latin typeface="Inter"/>
              </a:rPr>
              <a:t>Los encargos llegan por correo y con datos incompletos.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80" b="0">
                <a:solidFill>
                  <a:srgbClr val="434654"/>
                </a:solidFill>
                <a:latin typeface="Inter"/>
              </a:rPr>
              <a:t>Presupuestar y coordinar recogidas exige mucho trabajo manual.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80" b="0">
                <a:solidFill>
                  <a:srgbClr val="434654"/>
                </a:solidFill>
                <a:latin typeface="Inter"/>
              </a:rPr>
              <a:t>Documentar el estado de la obra en cada hito es engorroso.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04000"/>
            <a:ext cx="1089612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1152D4"/>
                </a:solidFill>
                <a:latin typeface="Inter"/>
              </a:rPr>
              <a:t>LA OPORTUNIDAD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56000"/>
            <a:ext cx="1089612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191B23"/>
                </a:solidFill>
                <a:latin typeface="Inter"/>
              </a:rPr>
              <a:t>Un mercado grande con un proceso que sigue siendo artesanal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6498000"/>
            <a:ext cx="43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PrestArte · Presentación confidencial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4120" y="6498000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1800000"/>
            <a:ext cx="3488040" cy="1368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000" y="1980000"/>
            <a:ext cx="312804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152D4"/>
                </a:solidFill>
                <a:latin typeface="Inter"/>
              </a:rPr>
              <a:t>59.600 M$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000" y="2520000"/>
            <a:ext cx="312804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20" b="0">
                <a:solidFill>
                  <a:srgbClr val="434654"/>
                </a:solidFill>
                <a:latin typeface="Inter"/>
              </a:rPr>
              <a:t>Ventas del mercado mundial del arte en 2025, un 4 % más que en 2024 (Art Basel y UBS)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040" y="1800000"/>
            <a:ext cx="3488040" cy="1368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2040" y="1980000"/>
            <a:ext cx="312804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152D4"/>
                </a:solidFill>
                <a:latin typeface="Inter"/>
              </a:rPr>
              <a:t>~1.500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2040" y="2520000"/>
            <a:ext cx="312804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20" b="0">
                <a:solidFill>
                  <a:srgbClr val="434654"/>
                </a:solidFill>
                <a:latin typeface="Inter"/>
              </a:rPr>
              <a:t>Museos y colecciones museográficas en España (Ministerio de Cultura)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6080" y="1800000"/>
            <a:ext cx="3488040" cy="1368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6080" y="1980000"/>
            <a:ext cx="312804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152D4"/>
                </a:solidFill>
                <a:latin typeface="Inter"/>
              </a:rPr>
              <a:t>+65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6080" y="2520000"/>
            <a:ext cx="312804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20" b="0">
                <a:solidFill>
                  <a:srgbClr val="434654"/>
                </a:solidFill>
                <a:latin typeface="Inter"/>
              </a:rPr>
              <a:t>Visitas anuales a esas instituciones (estadística oficial de 2018)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" y="3600000"/>
            <a:ext cx="10896120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434654"/>
                </a:solidFill>
                <a:latin typeface="Inter"/>
              </a:rPr>
              <a:t>Las exposiciones temporales dependen de los préstamos, y una parte importante del patrimonio está en manos privadas. Las herramientas habituales de gestión de colecciones trabajan dentro de cada institución; PrestArte es el punto de encuentro entre las tres partes del préstamo, con el cumplimiento normativo dentro del flujo.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5760000"/>
            <a:ext cx="1089612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737686"/>
                </a:solidFill>
                <a:latin typeface="Inter"/>
              </a:rPr>
              <a:t>Fuentes: Art Basel y UBS, The Art Market (2025 y 2026); Ministerio de Cultura, Estadística de Museos y Colecciones Museográficas.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04000"/>
            <a:ext cx="1089612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1152D4"/>
                </a:solidFill>
                <a:latin typeface="Inter"/>
              </a:rPr>
              <a:t>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56000"/>
            <a:ext cx="1089612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191B23"/>
                </a:solidFill>
                <a:latin typeface="Inter"/>
              </a:rPr>
              <a:t>Una red cerrada y verificada, con un flujo para cada 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6498000"/>
            <a:ext cx="43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PrestArte · Presentación confidencial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4120" y="6498000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1728000"/>
            <a:ext cx="2589030" cy="2664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000" y="1908000"/>
            <a:ext cx="2229030" cy="23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Coleccionista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Publica sus obras con requisitos de conservación y condiciones. Decide a quién presta y elige transportista.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7030" y="1728000"/>
            <a:ext cx="2589030" cy="2664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7030" y="1908000"/>
            <a:ext cx="2229030" cy="23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Museo / fundación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Crea exposiciones, busca obras, ve costes y CO₂ antes de pedir y aprueba presupuestos.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6060" y="1728000"/>
            <a:ext cx="2589030" cy="2664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6060" y="1908000"/>
            <a:ext cx="2229030" cy="23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Transportista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Perfil público con cobertura y tarifas. Cotiza ida y vuelta y registra cada hito con fotos.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5090" y="1728000"/>
            <a:ext cx="2589030" cy="2664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35090" y="1908000"/>
            <a:ext cx="2229030" cy="23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Administración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Verifica cuentas (KYB), revisa la procedencia de las obras y supervisa la actividad.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" y="4680000"/>
            <a:ext cx="10896120" cy="1080000"/>
          </a:xfrm>
          <a:prstGeom prst="roundRect">
            <a:avLst>
              <a:gd name="adj" fmla="val 6000"/>
            </a:avLst>
          </a:prstGeom>
          <a:solidFill>
            <a:srgbClr val="DBE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000" y="4824000"/>
            <a:ext cx="10464120" cy="86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0">
                <a:solidFill>
                  <a:srgbClr val="0B2F86"/>
                </a:solidFill>
                <a:latin typeface="Inter"/>
              </a:rPr>
              <a:t>Nadie opera sin que la administración haya revisado antes su documentación (DNI, NIE o CIF y un documento acreditativo). Cada préstamo sigue una máquina de estados: no se puede saltar un paso, y cada acción solo la puede hacer la parte a la que le toca.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04000"/>
            <a:ext cx="1089612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1152D4"/>
                </a:solidFill>
                <a:latin typeface="Inter"/>
              </a:rPr>
              <a:t>CÓMO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56000"/>
            <a:ext cx="1089612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191B23"/>
                </a:solidFill>
                <a:latin typeface="Inter"/>
              </a:rPr>
              <a:t>Un préstamo, de la solicitud a la devolución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6498000"/>
            <a:ext cx="43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PrestArte · Presentación confidencial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4120" y="6498000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1800000"/>
            <a:ext cx="1696020" cy="2808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8000" y="2016000"/>
            <a:ext cx="432000" cy="432000"/>
          </a:xfrm>
          <a:prstGeom prst="ellipse">
            <a:avLst/>
          </a:prstGeom>
          <a:solidFill>
            <a:srgbClr val="115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000" y="2628000"/>
            <a:ext cx="1336020" cy="18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Solicitud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20" b="0">
                <a:solidFill>
                  <a:srgbClr val="434654"/>
                </a:solidFill>
                <a:latin typeface="Inter"/>
              </a:rPr>
              <a:t>La institución pide la obra para una exposición, con fechas y sede.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8020" y="1800000"/>
            <a:ext cx="1696020" cy="2808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68020" y="2016000"/>
            <a:ext cx="432000" cy="432000"/>
          </a:xfrm>
          <a:prstGeom prst="ellipse">
            <a:avLst/>
          </a:prstGeom>
          <a:solidFill>
            <a:srgbClr val="115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8020" y="2628000"/>
            <a:ext cx="1336020" cy="18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Aceptación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20" b="0">
                <a:solidFill>
                  <a:srgbClr val="434654"/>
                </a:solidFill>
                <a:latin typeface="Inter"/>
              </a:rPr>
              <a:t>El coleccionista acepta, fija el valor asegurado y elige transportista.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040" y="1800000"/>
            <a:ext cx="1696020" cy="2808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08040" y="2016000"/>
            <a:ext cx="432000" cy="432000"/>
          </a:xfrm>
          <a:prstGeom prst="ellipse">
            <a:avLst/>
          </a:prstGeom>
          <a:solidFill>
            <a:srgbClr val="115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8040" y="2628000"/>
            <a:ext cx="1336020" cy="18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Presupuesto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20" b="0">
                <a:solidFill>
                  <a:srgbClr val="434654"/>
                </a:solidFill>
                <a:latin typeface="Inter"/>
              </a:rPr>
              <a:t>El transportista cotiza ida y vuelta; la institución lo aprueba.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8060" y="1800000"/>
            <a:ext cx="1696020" cy="2808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48060" y="2016000"/>
            <a:ext cx="432000" cy="432000"/>
          </a:xfrm>
          <a:prstGeom prst="ellipse">
            <a:avLst/>
          </a:prstGeom>
          <a:solidFill>
            <a:srgbClr val="115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8060" y="2628000"/>
            <a:ext cx="1336020" cy="18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Seguro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20" b="0">
                <a:solidFill>
                  <a:srgbClr val="434654"/>
                </a:solidFill>
                <a:latin typeface="Inter"/>
              </a:rPr>
              <a:t>Seguro clavo a clavo y, si procede, permiso de exportación.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8080" y="1800000"/>
            <a:ext cx="1696020" cy="2808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88080" y="2016000"/>
            <a:ext cx="432000" cy="432000"/>
          </a:xfrm>
          <a:prstGeom prst="ellipse">
            <a:avLst/>
          </a:prstGeom>
          <a:solidFill>
            <a:srgbClr val="115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8080" y="2628000"/>
            <a:ext cx="1336020" cy="18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Envío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20" b="0">
                <a:solidFill>
                  <a:srgbClr val="434654"/>
                </a:solidFill>
                <a:latin typeface="Inter"/>
              </a:rPr>
              <a:t>Recogida, tránsito y entrega con informe de estado y fotos.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48100" y="1800000"/>
            <a:ext cx="1696020" cy="2808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28100" y="2016000"/>
            <a:ext cx="432000" cy="432000"/>
          </a:xfrm>
          <a:prstGeom prst="ellipse">
            <a:avLst/>
          </a:prstGeom>
          <a:solidFill>
            <a:srgbClr val="115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28100" y="2628000"/>
            <a:ext cx="1336020" cy="18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Exposición y vuelta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20" b="0">
                <a:solidFill>
                  <a:srgbClr val="434654"/>
                </a:solidFill>
                <a:latin typeface="Inter"/>
              </a:rPr>
              <a:t>Ampliación opcional, devolución y valoraciones.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000" y="4968000"/>
            <a:ext cx="1089612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0">
                <a:solidFill>
                  <a:srgbClr val="434654"/>
                </a:solidFill>
                <a:latin typeface="Inter"/>
              </a:rPr>
              <a:t>Se genera automáticamente: contrato en PDF, certificado de exposición, historial de eventos con autor y fecha, avisos en la aplicación y por email, y recordatorios diarios de plazos (fin del préstamo, seguro, permiso).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04000"/>
            <a:ext cx="1089612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1152D4"/>
                </a:solidFill>
                <a:latin typeface="Inter"/>
              </a:rPr>
              <a:t>EL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56000"/>
            <a:ext cx="1089612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191B23"/>
                </a:solidFill>
                <a:latin typeface="Inter"/>
              </a:rPr>
              <a:t>Un catálogo pensado para instituciones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6498000"/>
            <a:ext cx="43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PrestArte · Presentación confidencial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4120" y="6498000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6</a:t>
            </a:r>
          </a:p>
        </p:txBody>
      </p:sp>
      <p:pic>
        <p:nvPicPr>
          <p:cNvPr id="6" name="Picture 5" descr="02_cata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" y="1584000"/>
            <a:ext cx="7257600" cy="4536000"/>
          </a:xfrm>
          <a:prstGeom prst="rect">
            <a:avLst/>
          </a:prstGeom>
          <a:ln w="9525">
            <a:solidFill>
              <a:srgbClr val="E2E1E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193600" y="1728000"/>
            <a:ext cx="3350520" cy="4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80" b="1">
                <a:solidFill>
                  <a:srgbClr val="191B23"/>
                </a:solidFill>
                <a:latin typeface="Inter"/>
              </a:rPr>
              <a:t>Búsqueda con filtros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Texto, ciudad, años, estado, procedencia verificada y obras libres entre dos fechas.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80" b="1">
                <a:solidFill>
                  <a:srgbClr val="191B23"/>
                </a:solidFill>
                <a:latin typeface="Inter"/>
              </a:rPr>
              <a:t>Calendario de disponibilidad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Días ocupados visibles en la ficha y en el calendario de la solicitud.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80" b="1">
                <a:solidFill>
                  <a:srgbClr val="191B23"/>
                </a:solidFill>
                <a:latin typeface="Inter"/>
              </a:rPr>
              <a:t>Visibilidad controlada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Cada obra puede ser pública o solo para instituciones verificadas.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737686"/>
                </a:solidFill>
                <a:latin typeface="Inter"/>
              </a:rPr>
              <a:t>Capturas reales de la aplicación con datos de demostración.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04000"/>
            <a:ext cx="1089612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1152D4"/>
                </a:solidFill>
                <a:latin typeface="Inter"/>
              </a:rPr>
              <a:t>EL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56000"/>
            <a:ext cx="1089612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191B23"/>
                </a:solidFill>
                <a:latin typeface="Inter"/>
              </a:rPr>
              <a:t>Antes de pedir, la institución sabe si cumple y cuánto costará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6498000"/>
            <a:ext cx="43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PrestArte · Presentación confidencial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4120" y="6498000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7</a:t>
            </a:r>
          </a:p>
        </p:txBody>
      </p:sp>
      <p:pic>
        <p:nvPicPr>
          <p:cNvPr id="6" name="Picture 5" descr="03_ficha_ob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" y="1584000"/>
            <a:ext cx="5340060" cy="3337538"/>
          </a:xfrm>
          <a:prstGeom prst="rect">
            <a:avLst/>
          </a:prstGeom>
          <a:ln w="9525">
            <a:solidFill>
              <a:srgbClr val="E2E1ED"/>
            </a:solidFill>
          </a:ln>
        </p:spPr>
      </p:pic>
      <p:pic>
        <p:nvPicPr>
          <p:cNvPr id="7" name="Picture 6" descr="10_solicitu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060" y="1584000"/>
            <a:ext cx="5340060" cy="3337538"/>
          </a:xfrm>
          <a:prstGeom prst="rect">
            <a:avLst/>
          </a:prstGeom>
          <a:ln w="9525">
            <a:solidFill>
              <a:srgbClr val="E2E1E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48000" y="5400000"/>
            <a:ext cx="534006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20" b="0">
                <a:solidFill>
                  <a:srgbClr val="434654"/>
                </a:solidFill>
                <a:latin typeface="Inter"/>
              </a:rPr>
              <a:t>Ficha de la obra: coleccionista anónimo y valor visible solo para instituciones verificadas.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4060" y="5400000"/>
            <a:ext cx="534006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20" b="0">
                <a:solidFill>
                  <a:srgbClr val="434654"/>
                </a:solidFill>
                <a:latin typeface="Inter"/>
              </a:rPr>
              <a:t>Solicitud: requisitos de la obra frente a las instalaciones del museo, con aviso de cada incumplimiento.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04000"/>
            <a:ext cx="1089612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1152D4"/>
                </a:solidFill>
                <a:latin typeface="Inter"/>
              </a:rPr>
              <a:t>EL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56000"/>
            <a:ext cx="1089612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191B23"/>
                </a:solidFill>
                <a:latin typeface="Inter"/>
              </a:rPr>
              <a:t>Cada perfil tiene su panel con lo que le toca hacer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6498000"/>
            <a:ext cx="43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PrestArte · Presentación confidencial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4120" y="6498000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8</a:t>
            </a:r>
          </a:p>
        </p:txBody>
      </p:sp>
      <p:pic>
        <p:nvPicPr>
          <p:cNvPr id="6" name="Picture 5" descr="05_panel_coleccioni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" y="1584000"/>
            <a:ext cx="5340060" cy="3337538"/>
          </a:xfrm>
          <a:prstGeom prst="rect">
            <a:avLst/>
          </a:prstGeom>
          <a:ln w="9525">
            <a:solidFill>
              <a:srgbClr val="E2E1ED"/>
            </a:solidFill>
          </a:ln>
        </p:spPr>
      </p:pic>
      <p:pic>
        <p:nvPicPr>
          <p:cNvPr id="7" name="Picture 6" descr="13_panel_transpor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060" y="1584000"/>
            <a:ext cx="5340060" cy="3337538"/>
          </a:xfrm>
          <a:prstGeom prst="rect">
            <a:avLst/>
          </a:prstGeom>
          <a:ln w="9525">
            <a:solidFill>
              <a:srgbClr val="E2E1E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48000" y="5400000"/>
            <a:ext cx="534006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20" b="0">
                <a:solidFill>
                  <a:srgbClr val="434654"/>
                </a:solidFill>
                <a:latin typeface="Inter"/>
              </a:rPr>
              <a:t>Coleccionista: obras, préstamos activos, solicitudes pendientes y valor asegurado.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4060" y="5400000"/>
            <a:ext cx="534006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20" b="0">
                <a:solidFill>
                  <a:srgbClr val="434654"/>
                </a:solidFill>
                <a:latin typeface="Inter"/>
              </a:rPr>
              <a:t>Transportista: envíos con número de seguimiento, estado y precio.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04000"/>
            <a:ext cx="1089612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1152D4"/>
                </a:solidFill>
                <a:latin typeface="Inter"/>
              </a:rPr>
              <a:t>EL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56000"/>
            <a:ext cx="1089612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191B23"/>
                </a:solidFill>
                <a:latin typeface="Inter"/>
              </a:rPr>
              <a:t>Un expediente único y trazable para cada préstamo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6498000"/>
            <a:ext cx="43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PrestArte · Presentación confidencial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4120" y="6498000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9</a:t>
            </a:r>
          </a:p>
        </p:txBody>
      </p:sp>
      <p:pic>
        <p:nvPicPr>
          <p:cNvPr id="6" name="Picture 5" descr="06_prestamo_transi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" y="1584000"/>
            <a:ext cx="7257600" cy="4536000"/>
          </a:xfrm>
          <a:prstGeom prst="rect">
            <a:avLst/>
          </a:prstGeom>
          <a:ln w="9525">
            <a:solidFill>
              <a:srgbClr val="E2E1E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193600" y="1728000"/>
            <a:ext cx="3350520" cy="4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80" b="1">
                <a:solidFill>
                  <a:srgbClr val="191B23"/>
                </a:solidFill>
                <a:latin typeface="Inter"/>
              </a:rPr>
              <a:t>Línea de estados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14 estados con transiciones controladas.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80" b="1">
                <a:solidFill>
                  <a:srgbClr val="191B23"/>
                </a:solidFill>
                <a:latin typeface="Inter"/>
              </a:rPr>
              <a:t>Informes de estado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Fotos obligatorias en cada recogida y entrega.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80" b="1">
                <a:solidFill>
                  <a:srgbClr val="191B23"/>
                </a:solidFill>
                <a:latin typeface="Inter"/>
              </a:rPr>
              <a:t>Documentos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Contrato, seguro, permiso y certificado de exposición.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80" b="1">
                <a:solidFill>
                  <a:srgbClr val="191B23"/>
                </a:solidFill>
                <a:latin typeface="Inter"/>
              </a:rPr>
              <a:t>Chat por préstamo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Entre las tres partes, con imágenes y PDF.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04000"/>
            <a:ext cx="1089612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1152D4"/>
                </a:solidFill>
                <a:latin typeface="Inter"/>
              </a:rPr>
              <a:t>VENTAJAS COMPETITIVAS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56000"/>
            <a:ext cx="1089612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191B23"/>
                </a:solidFill>
                <a:latin typeface="Inter"/>
              </a:rPr>
              <a:t>El conocimiento del sector ya convertido en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6498000"/>
            <a:ext cx="43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PrestArte · Presentación confidencial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4120" y="6498000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1656000"/>
            <a:ext cx="3488040" cy="1944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000" y="1836000"/>
            <a:ext cx="3128040" cy="15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Cumplimiento normativo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Seguro clavo a clavo y permiso de exportación (Ley 16/1985). Sin ellos, la obra no sale.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040" y="1656000"/>
            <a:ext cx="3488040" cy="1944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2040" y="1836000"/>
            <a:ext cx="3128040" cy="15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Procedencia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Historial de propietarios, aviso de huecos en 1933–1945 y diligencia debida contra bases de obras robadas.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6080" y="1656000"/>
            <a:ext cx="3488040" cy="1944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6080" y="1836000"/>
            <a:ext cx="3128040" cy="15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Privacidad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Coleccionista anónimo, valor en horquilla y dirección de recogida protegida.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8000" y="3816000"/>
            <a:ext cx="3488040" cy="1944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00" y="3996000"/>
            <a:ext cx="3128040" cy="15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Costes y CO₂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Estimación previa de transporte, caja, seguro y correo, y de la huella de carbono.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040" y="3816000"/>
            <a:ext cx="3488040" cy="1944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2040" y="3996000"/>
            <a:ext cx="3128040" cy="15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Incentivos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Mención en cartela, usos de imagen, canon opcional y certificado de exposición.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6080" y="3816000"/>
            <a:ext cx="3488040" cy="1944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6080" y="3996000"/>
            <a:ext cx="3128040" cy="15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Trazabilidad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Informes de estado con fotos, correo virtual e historial de cada evento.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04000"/>
            <a:ext cx="1089612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1152D4"/>
                </a:solidFill>
                <a:latin typeface="Inter"/>
              </a:rPr>
              <a:t>MODELO DE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56000"/>
            <a:ext cx="1089612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191B23"/>
                </a:solidFill>
                <a:latin typeface="Inter"/>
              </a:rPr>
              <a:t>Varias vías de ingresos sobre la misma 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6498000"/>
            <a:ext cx="43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PrestArte · Presentación confidencial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4120" y="6498000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1656000"/>
            <a:ext cx="3488040" cy="1440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000" y="1836000"/>
            <a:ext cx="312804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Comisión por préstamo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Sobre cada préstamo cerrado. El paso «Pagado» ya existe en el flujo.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040" y="1656000"/>
            <a:ext cx="3488040" cy="1440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2040" y="1836000"/>
            <a:ext cx="312804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Suscripción institucional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Cuota anual para museos y fundaciones.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6080" y="1656000"/>
            <a:ext cx="3488040" cy="1440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6080" y="1836000"/>
            <a:ext cx="312804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Plan para transportistas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Directorio, tarifas publicadas y encargos cualificados.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8000" y="3312000"/>
            <a:ext cx="3488040" cy="1440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00" y="3492000"/>
            <a:ext cx="312804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Verificación de procedencia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Servicio de diligencia debida con distintivo.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040" y="3312000"/>
            <a:ext cx="3488040" cy="1440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2040" y="3492000"/>
            <a:ext cx="312804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Seguro intermediado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Con un socio asegurador con licencia de mediación.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6080" y="3312000"/>
            <a:ext cx="3488040" cy="1440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6080" y="3492000"/>
            <a:ext cx="312804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Marca blanca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Instancia propia para una red de museos o un transportista.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5184000"/>
            <a:ext cx="1089612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39" b="0">
                <a:solidFill>
                  <a:srgbClr val="737686"/>
                </a:solidFill>
                <a:latin typeface="Inter"/>
              </a:rPr>
              <a:t>PrestArte aún no factura ni tiene pasarela de pago: son propuestas que la arquitectura actual admite sin rediseño.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04000"/>
            <a:ext cx="1089612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1152D4"/>
                </a:solidFill>
                <a:latin typeface="Inter"/>
              </a:rPr>
              <a:t>TECNOLOGÍA Y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56000"/>
            <a:ext cx="1089612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191B23"/>
                </a:solidFill>
                <a:latin typeface="Inter"/>
              </a:rPr>
              <a:t>Base técnica estándar, verificada en octubre 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6498000"/>
            <a:ext cx="43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PrestArte · Presentación confidencial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4120" y="6498000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1656000"/>
            <a:ext cx="2589030" cy="1296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000" y="1836000"/>
            <a:ext cx="222903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152D4"/>
                </a:solidFill>
                <a:latin typeface="Inter"/>
              </a:rP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000" y="2376000"/>
            <a:ext cx="222903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20" b="0">
                <a:solidFill>
                  <a:srgbClr val="434654"/>
                </a:solidFill>
                <a:latin typeface="Inter"/>
              </a:rPr>
              <a:t>endpoints REST con permisos por operación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7030" y="1656000"/>
            <a:ext cx="2589030" cy="1296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7030" y="1836000"/>
            <a:ext cx="222903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152D4"/>
                </a:solidFill>
                <a:latin typeface="Inter"/>
              </a:rPr>
              <a:t>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7030" y="2376000"/>
            <a:ext cx="222903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20" b="0">
                <a:solidFill>
                  <a:srgbClr val="434654"/>
                </a:solidFill>
                <a:latin typeface="Inter"/>
              </a:rPr>
              <a:t>entidades de dominio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6060" y="1656000"/>
            <a:ext cx="2589030" cy="1296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6060" y="1836000"/>
            <a:ext cx="222903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152D4"/>
                </a:solidFill>
                <a:latin typeface="Inter"/>
              </a:rPr>
              <a:t>~27.500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6060" y="2376000"/>
            <a:ext cx="222903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20" b="0">
                <a:solidFill>
                  <a:srgbClr val="434654"/>
                </a:solidFill>
                <a:latin typeface="Inter"/>
              </a:rPr>
              <a:t>líneas de código propio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5090" y="1656000"/>
            <a:ext cx="2589030" cy="1296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5090" y="1836000"/>
            <a:ext cx="222903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152D4"/>
                </a:solidFill>
                <a:latin typeface="Inter"/>
              </a:rPr>
              <a:t>0 €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5090" y="2376000"/>
            <a:ext cx="222903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20" b="0">
                <a:solidFill>
                  <a:srgbClr val="434654"/>
                </a:solidFill>
                <a:latin typeface="Inter"/>
              </a:rPr>
              <a:t>en licencias: todo es software libre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00" y="3240000"/>
            <a:ext cx="5340060" cy="259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1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000" y="3420000"/>
            <a:ext cx="4980060" cy="22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Stack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Frontend: Angular 21 y Tailwind CSS 4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Backend: Java 21, Spring Boot 4, Spring Security, JPA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Base de datos: MySQL 8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Seguridad: JWT, BCrypt, límite de intentos, archivos protegidos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Documentos: OpenPDF y correo SMTP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4060" y="3240000"/>
            <a:ext cx="5340060" cy="2592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4060" y="3420000"/>
            <a:ext cx="4980060" cy="22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Verificado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El backend compila con Java 21 y arranca contra MySQL/MariaDB.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Préstamo completo por API, de la solicitud a la devolución: todos los pasos correctos.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Frontend recorrido con los cuatro perfiles.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Ficha técnica con arquitectura, API y deuda técnica.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04000"/>
            <a:ext cx="1089612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1152D4"/>
                </a:solidFill>
                <a:latin typeface="Inter"/>
              </a:rPr>
              <a:t>HOJA DE RUTA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56000"/>
            <a:ext cx="1089612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191B23"/>
                </a:solidFill>
                <a:latin typeface="Inter"/>
              </a:rPr>
              <a:t>Lo que falta es poner en producción, no construir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6498000"/>
            <a:ext cx="43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PrestArte · Presentación confidencial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4120" y="6498000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1656000"/>
            <a:ext cx="3488040" cy="4032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000" y="1836000"/>
            <a:ext cx="3128040" cy="36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Hecho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Ciclo completo del préstamo y del envío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Verificación de cuentas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Seguro, permisos y procedencia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Costes, CO₂ y compatibilidad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Chat, avisos y recordatorios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Contratos y certificados PDF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040" y="1656000"/>
            <a:ext cx="3488040" cy="4032000"/>
          </a:xfrm>
          <a:prstGeom prst="roundRect">
            <a:avLst>
              <a:gd name="adj" fmla="val 6000"/>
            </a:avLst>
          </a:prstGeom>
          <a:solidFill>
            <a:srgbClr val="F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2040" y="1836000"/>
            <a:ext cx="3128040" cy="36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A63800"/>
                </a:solidFill>
                <a:latin typeface="Inter"/>
              </a:rPr>
              <a:t>Antes de lanzar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Tests automáticos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Migraciones (Flyway) y Docker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Despliegue y monitorización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Archivos en almacenamiento de objetos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Textos legales (RGPD, cookies)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Calibrar tarifas de referencia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6080" y="1656000"/>
            <a:ext cx="3488040" cy="4032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6080" y="1836000"/>
            <a:ext cx="3128040" cy="36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Crecimiento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Pasarela de pago y comisión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Firma electrónica (eIDAS)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Inglés y otros idiomas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Avisos en tiempo real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Integración con aseguradoras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39" b="0">
                <a:solidFill>
                  <a:srgbClr val="434654"/>
                </a:solidFill>
                <a:latin typeface="Inter"/>
              </a:rPr>
              <a:t>App móvil para el transportista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04000"/>
            <a:ext cx="1089612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1152D4"/>
                </a:solidFill>
                <a:latin typeface="Inter"/>
              </a:rPr>
              <a:t>LA OPERACIÓN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56000"/>
            <a:ext cx="1089612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>
                <a:solidFill>
                  <a:srgbClr val="191B23"/>
                </a:solidFill>
                <a:latin typeface="Inter"/>
              </a:rPr>
              <a:t>Qué incluye y cómo seguimos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6498000"/>
            <a:ext cx="43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PrestArte · Presentación confidencial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4120" y="6498000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00" b="0">
                <a:solidFill>
                  <a:srgbClr val="737686"/>
                </a:solidFill>
                <a:latin typeface="Inter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1656000"/>
            <a:ext cx="5340060" cy="30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1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000" y="1836000"/>
            <a:ext cx="4980060" cy="26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Incluye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434654"/>
                </a:solidFill>
                <a:latin typeface="Inter"/>
              </a:rPr>
              <a:t>Código fuente completo (frontend y backend) con su historial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434654"/>
                </a:solidFill>
                <a:latin typeface="Inter"/>
              </a:rPr>
              <a:t>Marca PrestArte, logotipo y diseños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434654"/>
                </a:solidFill>
                <a:latin typeface="Inter"/>
              </a:rPr>
              <a:t>Documentación: memoria técnica, README, ficha técnica y dosier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434654"/>
                </a:solidFill>
                <a:latin typeface="Inter"/>
              </a:rPr>
              <a:t>Datos de demostración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434654"/>
                </a:solidFill>
                <a:latin typeface="Inter"/>
              </a:rPr>
              <a:t>Transición y soporte durante [X semanas]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4060" y="1656000"/>
            <a:ext cx="5340060" cy="3024000"/>
          </a:xfrm>
          <a:prstGeom prst="roundRect">
            <a:avLst>
              <a:gd name="adj" fmla="val 6000"/>
            </a:avLst>
          </a:prstGeom>
          <a:solidFill>
            <a:srgbClr val="F3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4060" y="1836000"/>
            <a:ext cx="4980060" cy="26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20" b="1">
                <a:solidFill>
                  <a:srgbClr val="191B23"/>
                </a:solidFill>
                <a:latin typeface="Inter"/>
              </a:rPr>
              <a:t>Próximos pasos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434654"/>
                </a:solidFill>
                <a:latin typeface="Inter"/>
              </a:rPr>
              <a:t>1. Acuerdo de confidencialidad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434654"/>
                </a:solidFill>
                <a:latin typeface="Inter"/>
              </a:rPr>
              <a:t>2. Demostración en directo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434654"/>
                </a:solidFill>
                <a:latin typeface="Inter"/>
              </a:rPr>
              <a:t>3. Acceso al código y a la ficha técnica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434654"/>
                </a:solidFill>
                <a:latin typeface="Inter"/>
              </a:rPr>
              <a:t>4. Revisión técnica y legal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434654"/>
                </a:solidFill>
                <a:latin typeface="Inter"/>
              </a:rPr>
              <a:t>5. Oferta, contrato y traspaso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" y="4968000"/>
            <a:ext cx="10896120" cy="936000"/>
          </a:xfrm>
          <a:prstGeom prst="roundRect">
            <a:avLst>
              <a:gd name="adj" fmla="val 6000"/>
            </a:avLst>
          </a:prstGeom>
          <a:solidFill>
            <a:srgbClr val="0B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6000" y="5076000"/>
            <a:ext cx="1032012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Sergio Fernández Morales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60" b="0">
                <a:solidFill>
                  <a:srgbClr val="DBE1FF"/>
                </a:solidFill>
                <a:latin typeface="Inter"/>
              </a:rPr>
              <a:t>[email] · [teléfono] · Abierto a venta total o licencia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